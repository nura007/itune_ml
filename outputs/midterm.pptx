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0:00–0:50. Introduce binary classification among existing apps with 50+ ratings. We are not predicting app success before launch. Explain label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0:50–1:50. Describe instructor conditions and the robots.txt discrepancy. Do not say robots.txt allows collection. Explain keyword sampling and overlap. Sources: https://performance-partners.apple.com/search-api and https://itunes.apple.com/robots.txt. Raw data stays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1:50–2:50. Explain minimum sample size, invalid values, duplicates and class imbalance. The right chart previews comparison with a baseline; detailed metrics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2:50–3:40. Explain age content category versus user rating. Dates are measured at collection. Descriptions are captured only for the later text-analysis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3:40–4:40. Explain the permanent 80/20 split and five folds within train. Model choice uses mean CV F1. No tuning against test. Fixed hyperparameters were declared in advance. Reference: https://scikit-learn.org/stable/modules/cross_validation.html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4:40–5:50. Compare CV mean/SD and fixed-test metrics. SD is fold variation, not a confidence interval. Explain why majority prediction can have high F1. SVM: holdout F1 0.901 vs Dummy 0.897 (gain +0.004); ROC-AUC 0.620. It detected 7/76 lower-rated apps. The F1 gain is descriptive; no statistical significance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5:50–6:50. Rows are actual classes, columns predictions. Explain FP and FN. Compare majority-class behavior to the selected model. Use ROC-AUC alongside 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6:50–7:50. These are actual test errors with identifying raw fields removed. Cases nearest the 4.5 boundary are selected deterministically within FP and FN. Discuss plausible limitations, not unproven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7:50–9:00. State the numerical finding honestly, including when baseline wins. Limit claims to existing US apps with 50+ ratings. Discuss future developer-group and temporal splits. Neural networks, text features and Streamlit are for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Can metadata identify highly rated apps?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01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795527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200" b="1">
                <a:solidFill>
                  <a:srgbClr val="102A43"/>
                </a:solidFill>
                <a:latin typeface="Aptos"/>
              </a:defRPr>
            </a:pPr>
            <a:r>
              <a:t>Existing US App Store apps</a:t>
            </a:r>
          </a:p>
          <a:p>
            <a:pPr>
              <a:spcAft>
                <a:spcPts val="1400"/>
              </a:spcAft>
              <a:defRPr sz="3200" b="1">
                <a:solidFill>
                  <a:srgbClr val="102A43"/>
                </a:solidFill>
                <a:latin typeface="Aptos"/>
              </a:defRPr>
            </a:pPr>
            <a:r>
              <a:t>Class 1: rating ≥ 4.5</a:t>
            </a:r>
          </a:p>
          <a:p>
            <a:pPr>
              <a:spcAft>
                <a:spcPts val="1400"/>
              </a:spcAft>
              <a:defRPr sz="3200" b="1">
                <a:solidFill>
                  <a:srgbClr val="102A43"/>
                </a:solidFill>
                <a:latin typeface="Aptos"/>
              </a:defRPr>
            </a:pPr>
            <a:r>
              <a:t>Class 0: rating &lt; 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18288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100" b="1">
                <a:solidFill>
                  <a:srgbClr val="167D8D"/>
                </a:solidFill>
                <a:latin typeface="Aptos"/>
              </a:defRPr>
            </a:pPr>
            <a:r>
              <a:t>2,029</a:t>
            </a:r>
          </a:p>
          <a:p>
            <a:pPr>
              <a:spcAft>
                <a:spcPts val="1400"/>
              </a:spcAft>
              <a:defRPr sz="3100" b="1">
                <a:solidFill>
                  <a:srgbClr val="167D8D"/>
                </a:solidFill>
                <a:latin typeface="Aptos"/>
              </a:defRPr>
            </a:pPr>
            <a:r>
              <a:t>eligible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Seven metadata inputs · Four classifiers · Fixed holdout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Data source and collection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02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Apple iTunes Search API · US storefront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17 requests used; 132 keywords planned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Pause ≥3.2 seconds; cache raw responses privately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Latest observation per trackId; at least 50 ratings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1">
                <a:solidFill>
                  <a:srgbClr val="167D8D"/>
                </a:solidFill>
                <a:latin typeface="Aptos"/>
              </a:defRPr>
            </a:pPr>
            <a:r>
              <a:t>robots.txt disallows /search* • Raw JSON/descriptions stay private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Cleaning and class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03 / 09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10972800" cy="39901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Raw rows: 2,763 → eligible unique apps: 2,029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Seven inputs; rating fields are excluded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04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900" b="1">
                <a:solidFill>
                  <a:srgbClr val="102A43"/>
                </a:solidFill>
                <a:latin typeface="Aptos"/>
              </a:defRPr>
            </a:pPr>
            <a:r>
              <a:t>price_usd · size_mb · primary_genre</a:t>
            </a:r>
          </a:p>
          <a:p>
            <a:pPr>
              <a:spcAft>
                <a:spcPts val="1400"/>
              </a:spcAft>
              <a:defRPr sz="2900" b="1">
                <a:solidFill>
                  <a:srgbClr val="102A43"/>
                </a:solidFill>
                <a:latin typeface="Aptos"/>
              </a:defRPr>
            </a:pPr>
            <a:r>
              <a:t>content_advisory_rating · language_count</a:t>
            </a:r>
          </a:p>
          <a:p>
            <a:pPr>
              <a:spcAft>
                <a:spcPts val="1400"/>
              </a:spcAft>
              <a:defRPr sz="2900" b="1">
                <a:solidFill>
                  <a:srgbClr val="102A43"/>
                </a:solidFill>
                <a:latin typeface="Aptos"/>
              </a:defRPr>
            </a:pPr>
            <a:r>
              <a:t>release_year · update_recency_days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600" b="0">
                <a:solidFill>
                  <a:srgbClr val="167D8D"/>
                </a:solidFill>
                <a:latin typeface="Aptos"/>
              </a:defRPr>
            </a:pPr>
            <a:r>
              <a:t>averageUserRating → target only</a:t>
            </a:r>
          </a:p>
          <a:p>
            <a:pPr>
              <a:spcAft>
                <a:spcPts val="1400"/>
              </a:spcAft>
              <a:defRPr sz="2600" b="0">
                <a:solidFill>
                  <a:srgbClr val="167D8D"/>
                </a:solidFill>
                <a:latin typeface="Aptos"/>
              </a:defRPr>
            </a:pPr>
            <a:r>
              <a:t>userRatingCount → ≥50 eligibility filter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Validation without data leakage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05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Stratified 80/20 split · random_state = 42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Five-fold stratified CV within train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Fold-local imputation → encoding/scaling → model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Dummy · Decision Tree · KNN · SVM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Selected by mean CV F1: SVM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Results: F1 needs a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06 / 09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1600200"/>
                <a:gridCol w="1508760"/>
                <a:gridCol w="1691640"/>
                <a:gridCol w="1691640"/>
              </a:tblGrid>
              <a:tr h="51206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CV F1 ± 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Test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Recall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Dummy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0.897 ±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1.000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0.878 ± 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0.939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0.896 ± 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0.970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0.899 ± 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0.826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0.991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526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0">
                <a:solidFill>
                  <a:srgbClr val="102A43"/>
                </a:solidFill>
                <a:latin typeface="Aptos"/>
              </a:defRPr>
            </a:pPr>
            <a:r>
              <a:t>SVM: holdout F1 0.901 vs Dummy 0.897 (gain +0.004); ROC-AUC 0.620. It detected 7/76 lower-rated apps. The F1 gain is descriptive; no statistical significance is claimed.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Where predictions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07 / 09</a:t>
            </a:r>
          </a:p>
        </p:txBody>
      </p:sp>
      <p:pic>
        <p:nvPicPr>
          <p:cNvPr id="4" name="Picture 3" descr="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097280"/>
            <a:ext cx="6343650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Real cases, anonymized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08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Case 1 · FP · true 0, predicted 1</a:t>
            </a:r>
          </a:p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True rating is within 0.1 of the 4.5 boundary</a:t>
            </a:r>
          </a:p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</a:p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Case 4 · FN · true 1, predicted 0</a:t>
            </a:r>
          </a:p>
          <a:p>
            <a:pPr>
              <a:spcAft>
                <a:spcPts val="1400"/>
              </a:spcAft>
              <a:defRPr sz="2200" b="0">
                <a:solidFill>
                  <a:srgbClr val="102A43"/>
                </a:solidFill>
                <a:latin typeface="Aptos"/>
              </a:defRPr>
            </a:pPr>
            <a:r>
              <a:t>Metadata alone does not explain the observed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0">
                <a:solidFill>
                  <a:srgbClr val="167D8D"/>
                </a:solidFill>
                <a:latin typeface="Aptos"/>
              </a:defRPr>
            </a:pPr>
            <a:r>
              <a:t>Full private audit is generated locally; public cases omit IDs, names and exact ratings.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02A43"/>
                </a:solidFill>
                <a:latin typeface="Aptos"/>
              </a:defRPr>
            </a:pPr>
            <a:r>
              <a:t>Conclusion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556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000" b="0">
                <a:solidFill>
                  <a:srgbClr val="167D8D"/>
                </a:solidFill>
                <a:latin typeface="Aptos"/>
              </a:defRPr>
            </a:pPr>
            <a:r>
              <a:t>APP STORE ML / MIDTERM     •     09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1">
                <a:solidFill>
                  <a:srgbClr val="102A43"/>
                </a:solidFill>
                <a:latin typeface="Aptos"/>
              </a:defRPr>
            </a:pPr>
            <a:r>
              <a:t>SVM: holdout F1 0.901 vs Dummy 0.897 (gain +0.004); ROC-AUC 0.620. It detected 7/76 lower-rated apps. The F1 gain is descriptive; no statistical significance is claimed.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461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Limits: search-ranking bias, one snapshot, developer overlap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No evidence for pre-launch success prediction</a:t>
            </a:r>
          </a:p>
          <a:p>
            <a:pPr>
              <a:spcAft>
                <a:spcPts val="1400"/>
              </a:spcAft>
              <a:defRPr sz="2500" b="0">
                <a:solidFill>
                  <a:srgbClr val="102A43"/>
                </a:solidFill>
                <a:latin typeface="Aptos"/>
              </a:defRPr>
            </a:pPr>
            <a:r>
              <a:t>Final: neural network · text analysis · Streamlit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